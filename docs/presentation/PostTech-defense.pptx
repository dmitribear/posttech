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da15a0fe74d3d" /><Relationship Type="http://schemas.openxmlformats.org/officeDocument/2006/relationships/extended-properties" Target="/docProps/app.xml" Id="Ra8b4b16fb0de47da" /><Relationship Type="http://schemas.openxmlformats.org/officeDocument/2006/relationships/officeDocument" Target="/ppt/presentation.xml" Id="R89e1c50b9d18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20f14e3d94636"/>
  </p:sldMasterIdLst>
  <p:notesMasterIdLst>
    <p:notesMasterId xmlns:r="http://schemas.openxmlformats.org/officeDocument/2006/relationships" r:id="Rf21581bdc7dc45a0"/>
  </p:notesMasterIdLst>
  <p:sldIdLst>
    <p:sldId xmlns:r="http://schemas.openxmlformats.org/officeDocument/2006/relationships" id="256" r:id="Rf87462dd9fde4f7b"/>
    <p:sldId xmlns:r="http://schemas.openxmlformats.org/officeDocument/2006/relationships" id="257" r:id="R0e9bf14629cc4a7a"/>
    <p:sldId xmlns:r="http://schemas.openxmlformats.org/officeDocument/2006/relationships" id="258" r:id="R172f9795e0394c4c"/>
    <p:sldId xmlns:r="http://schemas.openxmlformats.org/officeDocument/2006/relationships" id="259" r:id="R40c08423d35c49e9"/>
    <p:sldId xmlns:r="http://schemas.openxmlformats.org/officeDocument/2006/relationships" id="260" r:id="Re08fce7ec02f4527"/>
    <p:sldId xmlns:r="http://schemas.openxmlformats.org/officeDocument/2006/relationships" id="261" r:id="R4a97f6125ace4b5b"/>
    <p:sldId xmlns:r="http://schemas.openxmlformats.org/officeDocument/2006/relationships" id="262" r:id="R0462d462eb114477"/>
    <p:sldId xmlns:r="http://schemas.openxmlformats.org/officeDocument/2006/relationships" id="263" r:id="R6a3e8027bd0c45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eef3302be4091" /><Relationship Type="http://schemas.openxmlformats.org/officeDocument/2006/relationships/slideMaster" Target="/ppt/slideMasters/slideMaster1.xml" Id="R56720f14e3d94636" /><Relationship Type="http://schemas.openxmlformats.org/officeDocument/2006/relationships/notesMaster" Target="/ppt/notesMasters/notesMaster1.xml" Id="Rf21581bdc7dc45a0" /><Relationship Type="http://schemas.openxmlformats.org/officeDocument/2006/relationships/presProps" Target="/ppt/presProps.xml" Id="R9a90a9765b834e5b" /><Relationship Type="http://schemas.openxmlformats.org/officeDocument/2006/relationships/tableStyles" Target="/ppt/tableStyles.xml" Id="R2dcaba553c624403" /><Relationship Type="http://schemas.openxmlformats.org/officeDocument/2006/relationships/slide" Target="/ppt/slides/slide1.xml" Id="Rf87462dd9fde4f7b" /><Relationship Type="http://schemas.openxmlformats.org/officeDocument/2006/relationships/slide" Target="/ppt/slides/slide2.xml" Id="R0e9bf14629cc4a7a" /><Relationship Type="http://schemas.openxmlformats.org/officeDocument/2006/relationships/slide" Target="/ppt/slides/slide3.xml" Id="R172f9795e0394c4c" /><Relationship Type="http://schemas.openxmlformats.org/officeDocument/2006/relationships/slide" Target="/ppt/slides/slide4.xml" Id="R40c08423d35c49e9" /><Relationship Type="http://schemas.openxmlformats.org/officeDocument/2006/relationships/slide" Target="/ppt/slides/slide5.xml" Id="Re08fce7ec02f4527" /><Relationship Type="http://schemas.openxmlformats.org/officeDocument/2006/relationships/slide" Target="/ppt/slides/slide6.xml" Id="R4a97f6125ace4b5b" /><Relationship Type="http://schemas.openxmlformats.org/officeDocument/2006/relationships/slide" Target="/ppt/slides/slide7.xml" Id="R0462d462eb114477" /><Relationship Type="http://schemas.openxmlformats.org/officeDocument/2006/relationships/slide" Target="/ppt/slides/slide8.xml" Id="R6a3e8027bd0c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44491ccb64e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e0113454734e34" /><Relationship Type="http://schemas.openxmlformats.org/officeDocument/2006/relationships/notesMaster" Target="/ppt/notesMasters/notesMaster1.xml" Id="Rb59a51b2e488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0b5771d1ca4617" /><Relationship Type="http://schemas.openxmlformats.org/officeDocument/2006/relationships/notesMaster" Target="/ppt/notesMasters/notesMaster1.xml" Id="R8860fe11ae94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9fa5a0834949fe" /><Relationship Type="http://schemas.openxmlformats.org/officeDocument/2006/relationships/notesMaster" Target="/ppt/notesMasters/notesMaster1.xml" Id="R59aec15cc3504b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4b2850bb94133" /><Relationship Type="http://schemas.openxmlformats.org/officeDocument/2006/relationships/notesMaster" Target="/ppt/notesMasters/notesMaster1.xml" Id="R1cffc932b3e7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bbecc7ed1429c" /><Relationship Type="http://schemas.openxmlformats.org/officeDocument/2006/relationships/notesMaster" Target="/ppt/notesMasters/notesMaster1.xml" Id="Rf1742c9ca983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3a6f2d7a2b4b72" /><Relationship Type="http://schemas.openxmlformats.org/officeDocument/2006/relationships/notesMaster" Target="/ppt/notesMasters/notesMaster1.xml" Id="R62b04fc538074d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de7875680d4880" /><Relationship Type="http://schemas.openxmlformats.org/officeDocument/2006/relationships/notesMaster" Target="/ppt/notesMasters/notesMaster1.xml" Id="R1b16430d3dac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a151f76b5d4b9d" /><Relationship Type="http://schemas.openxmlformats.org/officeDocument/2006/relationships/notesMaster" Target="/ppt/notesMasters/notesMaster1.xml" Id="R4025a0011686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00:00–00:35. Один рабочий портал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«PostTech объединяет кадровые обращения, обучение и ответы на рабочие вопросы. Мы показываем один связный путь сотрудника: войти, подать отпуск, получить решение и продолжить обучение. На экране личная главная Алии: доступные дни отпуска, последние события и быстрые действия. Это вымышленный сотрудник, но вход, данные и согласование работают через настоящий Supabase».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Покажите главную. Сделайте короткую паузу, чтобы жюри прочитало экран.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00:35–01:20. Заявка до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«Алия выбирает будущие даты. До отправки портал показывает, кто согласует заявку. Сервер проверяет даты и пересечения, затем сохраняет заявку, историю и уведомления одной операцией. Если сеть оборвётся и отправка повторится, второй заявки не появится. После решения сотрудник видит статус, имя согласующего и комментарий в одной карточке. Здесь уже согласованный пример, который мы прошли на реальном бэке».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Покажите карточку согласованного отпуска. Если делаете живую отправку, используйте свободную будущую дату и не выходите за 45 секунд.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01:20–02:05. Руководитель тоже сотрудник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«У руководителя есть личные заявки и отдельная очередь команды. Его собственный отпуск уходит вышестоящему руководителю или HR. Согласовать самому себе нельзя, включая HR. Если подходящего согласующего нет, система объясняет причину и блокирует отправку. Роль определяется сервером по профилю, поэтому смена надписи в интерфейсе не даёт новых прав. Маршрут сохраняется вместе с заявкой, чтобы история оставалась понятной».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Покажите очередь руководителя или слайд с правилами. Аккаунты заранее держите в разных профилях браузера, если хотите мгновенное переключение.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02:05–02:45. Как это работает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«Веб-интерфейс обращается к FastAPI. Сервер проверяет пользователя и права, затем выполняет операции в Supabase. В браузер не попадает служебный ключ базы. Изменения заявки, истории и уведомлений согласованы транзакцией. Сегодня стенд запускается на этом компьютере и использует интернет для Supabase. Приложение для телефона не требуется: используем адаптивную веб-версию. 1С и Documentolog находятся за обозначенной границей следующего этапа».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Покажите архитектурный слайд. Не тратьте время на названия библиотек и внутренние таблицы.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02:45–03:35. Проверяемый ответ Jana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«Jana отвечает по опубликованным материалам. У каждого ответа можно открыть источник, его версию, дату обновления и статус проверки. Мы не придумываем дату одобрения HR: сейчас у демонстрационного материала она не указана. Изменение текста сбрасывает старую проверку, просроченный источник не используется. Мы проверили 30 подготовленных вопросов: 16 ответов по базе и 14 отказов. Это тестовый набор, а не обещание стопроцентной точности. При недоступности внешней модели портал честно показывает точную цитату. Jana не выдаёт чужие кадровые данные и не принимает решения».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Откройте источник. При живом показе задайте «Как оформить отпуск?» и затем «Какая зарплата у моего руководителя?». На ожидание ответа отведите не больше 15 секунд, затем используйте резервный экран.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03:35–04:20. Обучение с результатом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«Руководитель назначает Алие курс. В личном разделе видно, что осталось пройти. Внутри есть материал и тест с понятным проходным баллом. Сервер оценивает ответы, хранит попытки и разрешает повтор после ошибки. Завершённый курс нельзя случайно открыть заново запоздавшим запросом. Руководитель видит прогресс своей команды. Учебные материалы сейчас демонстрационные, поэтому следующий шаг здесь: редактор для HR и сроки прохождения».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Откройте назначенный курс. Для короткой защиты достаточно материала и порога теста, полный тест проходите на отдельной демонстрации.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04:20–05:00. Что проверено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«Мы проверили не только экраны: прошли вход трёх ролей, создание и повторную отправку заявки, запрет самосогласования, решение руководителя и уведомление. Настоящая регистрация и восстановление пароля через письмо также пройдены владельцем стенда. Серверный набор содержит 332 прошедших теста, включая настоящие SQL-проверки в отдельной базе. Дополнительно проект установлен и запущен из чистой копии. Для показа есть отдельные тестовые аккаунты, запуск одним файлом и резервный ролик».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Оставайтесь на слайде. Не показывайте пароли, почтовый ящик, настройки SMTP или служебные ключи.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05:00–05:40. 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«Сейчас можно пройти связный сценарий от обращения до решения, увидеть обучение и проверить источник ответа. Дальше завершаем замещение согласующих, управление курсами, языки и передачу вопроса Jana в HR. После этого подключаем 1С для кадровых данных и Documentolog для документов, с повторными попытками и контролем ошибок. Мы хотим выделиться прослеживаемостью: сотрудник понимает, что происходит, руководитель видит свою ответственность, а любое автоматическое действие можно проверить».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Оставьте заключительный слайд и переходите к вопросам.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4dbcb27a546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b43fa928541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e3bb055b443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5a858ece9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ecb35b2b545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ed1179a6b4c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565090-5AA0-4FF3-B981-86FF8CEB7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00AF10-BB0D-47F1-8207-F0D78F7CBB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EE2E2E-FA30-44EE-9994-1AC671374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AFD12-756D-4ACB-A685-64A854B4B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CD621F-4100-4C8D-909D-DCBF4A7F9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5D19EF-8AF8-45BB-B803-7473A227A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42B300-BF2D-4DA8-8FE1-2565DE1DBB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D10574-642F-4903-9679-992804907A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F6F67E-AEFC-4308-9769-D69761CD8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6BD273-0BDF-4874-9CC3-FDFF40020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7a1763fd643a6" /><Relationship Type="http://schemas.openxmlformats.org/officeDocument/2006/relationships/slideLayout" Target="/ppt/slideLayouts/slideLayout1.xml" Id="R586a3bd8c82942e1" /><Relationship Type="http://schemas.openxmlformats.org/officeDocument/2006/relationships/slideLayout" Target="/ppt/slideLayouts/slideLayout2.xml" Id="Rf2821ca1de344d5a" /><Relationship Type="http://schemas.openxmlformats.org/officeDocument/2006/relationships/slideLayout" Target="/ppt/slideLayouts/slideLayout3.xml" Id="R5bfb46340a094faf" /><Relationship Type="http://schemas.openxmlformats.org/officeDocument/2006/relationships/slideLayout" Target="/ppt/slideLayouts/slideLayout4.xml" Id="R917e7b1d6b4747cd" /><Relationship Type="http://schemas.openxmlformats.org/officeDocument/2006/relationships/slideLayout" Target="/ppt/slideLayouts/slideLayout5.xml" Id="R65a048fb19a8438c" /><Relationship Type="http://schemas.openxmlformats.org/officeDocument/2006/relationships/slideLayout" Target="/ppt/slideLayouts/slideLayout6.xml" Id="Rbb9b3ab6a6dd46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a3bd8c82942e1"/>
    <p:sldLayoutId xmlns:r="http://schemas.openxmlformats.org/officeDocument/2006/relationships" id="2147483650" r:id="Rf2821ca1de344d5a"/>
    <p:sldLayoutId xmlns:r="http://schemas.openxmlformats.org/officeDocument/2006/relationships" id="2147483651" r:id="R5bfb46340a094faf"/>
    <p:sldLayoutId xmlns:r="http://schemas.openxmlformats.org/officeDocument/2006/relationships" id="2147483652" r:id="R917e7b1d6b4747cd"/>
    <p:sldLayoutId xmlns:r="http://schemas.openxmlformats.org/officeDocument/2006/relationships" id="2147483653" r:id="R65a048fb19a8438c"/>
    <p:sldLayoutId xmlns:r="http://schemas.openxmlformats.org/officeDocument/2006/relationships" id="2147483654" r:id="Rbb9b3ab6a6dd46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a76133a8a45bd" /><Relationship Type="http://schemas.openxmlformats.org/officeDocument/2006/relationships/image" Target="/ppt/media/image.jpeg" Id="Rd33b1961fb1f49a1" /><Relationship Type="http://schemas.openxmlformats.org/officeDocument/2006/relationships/notesSlide" Target="/ppt/notesSlides/notesSlide1.xml" Id="R60049e7985c2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30b73b6ff49cb" /><Relationship Type="http://schemas.openxmlformats.org/officeDocument/2006/relationships/image" Target="/ppt/media/image2.jpeg" Id="Rbe7b8cebcf514785" /><Relationship Type="http://schemas.openxmlformats.org/officeDocument/2006/relationships/notesSlide" Target="/ppt/notesSlides/notesSlide2.xml" Id="R79482cff44d5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9304ee5544227" /><Relationship Type="http://schemas.openxmlformats.org/officeDocument/2006/relationships/image" Target="/ppt/media/image3.jpeg" Id="R7d5a64693027469e" /><Relationship Type="http://schemas.openxmlformats.org/officeDocument/2006/relationships/notesSlide" Target="/ppt/notesSlides/notesSlide3.xml" Id="Rc75e72397d8b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b0eb7db264290" /><Relationship Type="http://schemas.openxmlformats.org/officeDocument/2006/relationships/notesSlide" Target="/ppt/notesSlides/notesSlide4.xml" Id="R788c8076f623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e188ea3694846" /><Relationship Type="http://schemas.openxmlformats.org/officeDocument/2006/relationships/image" Target="/ppt/media/image4.jpeg" Id="R41b32e9f41ae4b48" /><Relationship Type="http://schemas.openxmlformats.org/officeDocument/2006/relationships/notesSlide" Target="/ppt/notesSlides/notesSlide5.xml" Id="R12da1da031af40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9c7f4745e409a" /><Relationship Type="http://schemas.openxmlformats.org/officeDocument/2006/relationships/image" Target="/ppt/media/image5.jpeg" Id="R04d2efef9fc14db5" /><Relationship Type="http://schemas.openxmlformats.org/officeDocument/2006/relationships/notesSlide" Target="/ppt/notesSlides/notesSlide6.xml" Id="R2c3773434efe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066b663434846" /><Relationship Type="http://schemas.openxmlformats.org/officeDocument/2006/relationships/notesSlide" Target="/ppt/notesSlides/notesSlide7.xml" Id="R8228f77cd7b34b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6ae23f26c4a8e" /><Relationship Type="http://schemas.openxmlformats.org/officeDocument/2006/relationships/notesSlide" Target="/ppt/notesSlides/notesSlide8.xml" Id="R2a01876188f9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401818-7F85-4C15-8C69-897B79EC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02A22"/>
                </a:solidFill>
              </a:defRPr>
            </a:pPr>
            <a:r>
              <a:rPr sz="4200" b="1">
                <a:solidFill>
                  <a:srgbClr val="102A22"/>
                </a:solidFill>
              </a:rPr>
              <a:t>PostTech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B7D6EC9-6E83-4966-93F2-941AD68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D3E2738-5E03-4C94-B563-5AF766BB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01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D9E5FD3-E50C-4E26-924B-73F2D7A9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5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22"/>
                </a:solidFill>
              </a:defRPr>
            </a:pPr>
            <a:r>
              <a:rPr sz="2550" b="1">
                <a:solidFill>
                  <a:srgbClr val="102A22"/>
                </a:solidFill>
              </a:rPr>
              <a:t>Кадровые задачи в одном портале</a:t>
            </a:r>
          </a:p>
        </p:txBody>
      </p:sp>
      <p:sp>
        <p:nvSpPr>
          <p:cNvPr id="6" name="Point 0">
            <a:extLst xmlns:a="http://schemas.openxmlformats.org/drawingml/2006/main">
              <a:ext uri="{FF2B5EF4-FFF2-40B4-BE49-F238E27FC236}">
                <a16:creationId xmlns:a16="http://schemas.microsoft.com/office/drawing/2014/main" id="{30ADA95C-BBC4-4825-A09D-7CCAB3D1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85F"/>
                </a:solidFill>
              </a:defRPr>
            </a:pPr>
            <a:r>
              <a:rPr sz="1875" b="0">
                <a:solidFill>
                  <a:srgbClr val="53685F"/>
                </a:solidFill>
              </a:rPr>
              <a:t>Заявка и понятный статус</a:t>
            </a:r>
          </a:p>
        </p:txBody>
      </p:sp>
      <p:sp>
        <p:nvSpPr>
          <p:cNvPr id="7" name="Point 1">
            <a:extLst xmlns:a="http://schemas.openxmlformats.org/drawingml/2006/main">
              <a:ext uri="{FF2B5EF4-FFF2-40B4-BE49-F238E27FC236}">
                <a16:creationId xmlns:a16="http://schemas.microsoft.com/office/drawing/2014/main" id="{CE0AC6F1-37B5-45FD-B768-2ED9074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85F"/>
                </a:solidFill>
              </a:defRPr>
            </a:pPr>
            <a:r>
              <a:rPr sz="1875" b="0">
                <a:solidFill>
                  <a:srgbClr val="53685F"/>
                </a:solidFill>
              </a:rPr>
              <a:t>Обучение и результат</a:t>
            </a:r>
          </a:p>
        </p:txBody>
      </p:sp>
      <p:sp>
        <p:nvSpPr>
          <p:cNvPr id="8" name="Point 2">
            <a:extLst xmlns:a="http://schemas.openxmlformats.org/drawingml/2006/main">
              <a:ext uri="{FF2B5EF4-FFF2-40B4-BE49-F238E27FC236}">
                <a16:creationId xmlns:a16="http://schemas.microsoft.com/office/drawing/2014/main" id="{EF3FFDC3-D2FD-4252-AF9A-D0FA110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85F"/>
                </a:solidFill>
              </a:defRPr>
            </a:pPr>
            <a:r>
              <a:rPr sz="1875" b="0">
                <a:solidFill>
                  <a:srgbClr val="53685F"/>
                </a:solidFill>
              </a:rPr>
              <a:t>Ответ с проверяемым источником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B369C-A1F4-4826-8D8D-39C980201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b1961fb1f49a1"/>
          <a:stretch xmlns:a="http://schemas.openxmlformats.org/drawingml/2006/main"/>
        </p:blipFill>
        <p:spPr>
          <a:xfrm xmlns:a="http://schemas.openxmlformats.org/drawingml/2006/main">
            <a:off x="4762500" y="1819286"/>
            <a:ext cx="6819900" cy="3838552"/>
          </a:xfrm>
          <a:prstGeom xmlns:a="http://schemas.openxmlformats.org/drawingml/2006/main" prst="rect">
            <a:avLst/>
          </a:prstGeom>
        </p:spPr>
      </p:pic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9E8D2FA8-E273-472B-9BCC-6694F8E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Рабочий прототип с настоящим Supabase. Все персонажи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1774404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839DC8C-88CD-4D48-8AF6-271600E1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5A877D-3743-458B-8521-16A13BF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От заявки до решения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67BC58B-3761-406B-88A2-235372B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FE7C4-B495-49AD-A7AE-AC9C5F423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b8cebcf514785"/>
          <a:stretch xmlns:a="http://schemas.openxmlformats.org/drawingml/2006/main"/>
        </p:blipFill>
        <p:spPr>
          <a:xfrm xmlns:a="http://schemas.openxmlformats.org/drawingml/2006/main">
            <a:off x="609600" y="1811425"/>
            <a:ext cx="7524750" cy="4235274"/>
          </a:xfrm>
          <a:prstGeom xmlns:a="http://schemas.openxmlformats.org/drawingml/2006/main" prst="rect">
            <a:avLst/>
          </a:prstGeom>
        </p:spPr>
      </p:pic>
      <p:sp>
        <p:nvSpPr>
          <p:cNvPr id="6" name="Index 0">
            <a:extLst xmlns:a="http://schemas.openxmlformats.org/drawingml/2006/main">
              <a:ext uri="{FF2B5EF4-FFF2-40B4-BE49-F238E27FC236}">
                <a16:creationId xmlns:a16="http://schemas.microsoft.com/office/drawing/2014/main" id="{BED877D6-FA6C-4DA9-B872-EEA3707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01</a:t>
            </a:r>
          </a:p>
        </p:txBody>
      </p:sp>
      <p:sp>
        <p:nvSpPr>
          <p:cNvPr id="7" name="Point 0">
            <a:extLst xmlns:a="http://schemas.openxmlformats.org/drawingml/2006/main">
              <a:ext uri="{FF2B5EF4-FFF2-40B4-BE49-F238E27FC236}">
                <a16:creationId xmlns:a16="http://schemas.microsoft.com/office/drawing/2014/main" id="{A2B0A7C8-1844-4A10-8C5F-1DC1A1A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Согласующий виден заранее</a:t>
            </a:r>
          </a:p>
        </p:txBody>
      </p:sp>
      <p:sp>
        <p:nvSpPr>
          <p:cNvPr id="8" name="Index 1">
            <a:extLst xmlns:a="http://schemas.openxmlformats.org/drawingml/2006/main">
              <a:ext uri="{FF2B5EF4-FFF2-40B4-BE49-F238E27FC236}">
                <a16:creationId xmlns:a16="http://schemas.microsoft.com/office/drawing/2014/main" id="{73F127D5-FA08-47E7-9ED6-796139E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02</a:t>
            </a:r>
          </a:p>
        </p:txBody>
      </p:sp>
      <p:sp>
        <p:nvSpPr>
          <p:cNvPr id="9" name="Point 1">
            <a:extLst xmlns:a="http://schemas.openxmlformats.org/drawingml/2006/main">
              <a:ext uri="{FF2B5EF4-FFF2-40B4-BE49-F238E27FC236}">
                <a16:creationId xmlns:a16="http://schemas.microsoft.com/office/drawing/2014/main" id="{246D69C6-E01D-4E5B-86C0-E6B92CB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48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Повтор отправки без дубля</a:t>
            </a:r>
          </a:p>
        </p:txBody>
      </p:sp>
      <p:sp>
        <p:nvSpPr>
          <p:cNvPr id="10" name="Index 2">
            <a:extLst xmlns:a="http://schemas.openxmlformats.org/drawingml/2006/main">
              <a:ext uri="{FF2B5EF4-FFF2-40B4-BE49-F238E27FC236}">
                <a16:creationId xmlns:a16="http://schemas.microsoft.com/office/drawing/2014/main" id="{4FEB7F8A-F0AE-49D6-95AC-F4BC8818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03</a:t>
            </a:r>
          </a:p>
        </p:txBody>
      </p:sp>
      <p:sp>
        <p:nvSpPr>
          <p:cNvPr id="11" name="Point 2">
            <a:extLst xmlns:a="http://schemas.openxmlformats.org/drawingml/2006/main">
              <a:ext uri="{FF2B5EF4-FFF2-40B4-BE49-F238E27FC236}">
                <a16:creationId xmlns:a16="http://schemas.microsoft.com/office/drawing/2014/main" id="{D70265AB-3E0A-4365-B2D2-9924B94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История и уведомление сотруднику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F1661D30-8A40-4955-8BC5-E29FF20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Реальное согласование тестовой заявки. Остаток отпуска пока не списывается.</a:t>
            </a:r>
          </a:p>
        </p:txBody>
      </p:sp>
    </p:spTree>
    <p:extLst>
      <p:ext uri="{BB962C8B-B14F-4D97-AF65-F5344CB8AC3E}">
        <p14:creationId xmlns:p14="http://schemas.microsoft.com/office/powerpoint/2010/main" val="764398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B24D143-5A1D-462F-9557-DF9D76E0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19080C-DDDE-43B7-9522-CA5E5FE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Руководитель тоже сотрудник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1F31968-DF62-4394-8D20-FE3B81E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11D1A-FA81-49BF-AF4C-277F7C42F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a64693027469e"/>
          <a:stretch xmlns:a="http://schemas.openxmlformats.org/drawingml/2006/main"/>
        </p:blipFill>
        <p:spPr>
          <a:xfrm xmlns:a="http://schemas.openxmlformats.org/drawingml/2006/main">
            <a:off x="609600" y="1811425"/>
            <a:ext cx="7524750" cy="4235274"/>
          </a:xfrm>
          <a:prstGeom xmlns:a="http://schemas.openxmlformats.org/drawingml/2006/main" prst="rect">
            <a:avLst/>
          </a:prstGeom>
        </p:spPr>
      </p:pic>
      <p:sp>
        <p:nvSpPr>
          <p:cNvPr id="6" name="Index 0">
            <a:extLst xmlns:a="http://schemas.openxmlformats.org/drawingml/2006/main">
              <a:ext uri="{FF2B5EF4-FFF2-40B4-BE49-F238E27FC236}">
                <a16:creationId xmlns:a16="http://schemas.microsoft.com/office/drawing/2014/main" id="{3FAA4BF4-9A1B-4210-855F-C964016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01</a:t>
            </a:r>
          </a:p>
        </p:txBody>
      </p:sp>
      <p:sp>
        <p:nvSpPr>
          <p:cNvPr id="7" name="Point 0">
            <a:extLst xmlns:a="http://schemas.openxmlformats.org/drawingml/2006/main">
              <a:ext uri="{FF2B5EF4-FFF2-40B4-BE49-F238E27FC236}">
                <a16:creationId xmlns:a16="http://schemas.microsoft.com/office/drawing/2014/main" id="{AE180D81-C357-484E-9B6F-BF37CB97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Личные заявки отдельно от команды</a:t>
            </a:r>
          </a:p>
        </p:txBody>
      </p:sp>
      <p:sp>
        <p:nvSpPr>
          <p:cNvPr id="8" name="Index 1">
            <a:extLst xmlns:a="http://schemas.openxmlformats.org/drawingml/2006/main">
              <a:ext uri="{FF2B5EF4-FFF2-40B4-BE49-F238E27FC236}">
                <a16:creationId xmlns:a16="http://schemas.microsoft.com/office/drawing/2014/main" id="{CBBB34BB-0A13-46F9-A86D-BFCAC699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02</a:t>
            </a:r>
          </a:p>
        </p:txBody>
      </p:sp>
      <p:sp>
        <p:nvSpPr>
          <p:cNvPr id="9" name="Point 1">
            <a:extLst xmlns:a="http://schemas.openxmlformats.org/drawingml/2006/main">
              <a:ext uri="{FF2B5EF4-FFF2-40B4-BE49-F238E27FC236}">
                <a16:creationId xmlns:a16="http://schemas.microsoft.com/office/drawing/2014/main" id="{7B4B3AC2-8471-45CB-9960-E2D1444F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48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Свой отпуск уходит выше или в HR</a:t>
            </a:r>
          </a:p>
        </p:txBody>
      </p:sp>
      <p:sp>
        <p:nvSpPr>
          <p:cNvPr id="10" name="Index 2">
            <a:extLst xmlns:a="http://schemas.openxmlformats.org/drawingml/2006/main">
              <a:ext uri="{FF2B5EF4-FFF2-40B4-BE49-F238E27FC236}">
                <a16:creationId xmlns:a16="http://schemas.microsoft.com/office/drawing/2014/main" id="{3E78D102-DD51-446C-9287-61019FB2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03</a:t>
            </a:r>
          </a:p>
        </p:txBody>
      </p:sp>
      <p:sp>
        <p:nvSpPr>
          <p:cNvPr id="11" name="Point 2">
            <a:extLst xmlns:a="http://schemas.openxmlformats.org/drawingml/2006/main">
              <a:ext uri="{FF2B5EF4-FFF2-40B4-BE49-F238E27FC236}">
                <a16:creationId xmlns:a16="http://schemas.microsoft.com/office/drawing/2014/main" id="{4AF26290-4E35-4514-91F7-2C8C344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Самосогласование запрещено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40E80309-5AFD-485B-9521-552F56D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Если допустимого согласующего нет, отправка блокируется с объяснением.</a:t>
            </a:r>
          </a:p>
        </p:txBody>
      </p:sp>
    </p:spTree>
    <p:extLst>
      <p:ext uri="{BB962C8B-B14F-4D97-AF65-F5344CB8AC3E}">
        <p14:creationId xmlns:p14="http://schemas.microsoft.com/office/powerpoint/2010/main" val="1442418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73A105F-5515-4FC2-BBD6-EBA3566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BE6D39-18F1-412D-9678-3E33A34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Права проверяются на сервере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774A8D8-68AE-444B-97B7-F154DBF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04</a:t>
            </a:r>
          </a:p>
        </p:txBody>
      </p:sp>
      <p:sp>
        <p:nvSpPr>
          <p:cNvPr id="5" name="Layer 0">
            <a:extLst xmlns:a="http://schemas.openxmlformats.org/drawingml/2006/main">
              <a:ext uri="{FF2B5EF4-FFF2-40B4-BE49-F238E27FC236}">
                <a16:creationId xmlns:a16="http://schemas.microsoft.com/office/drawing/2014/main" id="{50A19484-6AE9-41DE-AE70-6EC0DC3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Layer title 0">
            <a:extLst xmlns:a="http://schemas.openxmlformats.org/drawingml/2006/main">
              <a:ext uri="{FF2B5EF4-FFF2-40B4-BE49-F238E27FC236}">
                <a16:creationId xmlns:a16="http://schemas.microsoft.com/office/drawing/2014/main" id="{DEDD7080-F197-48B1-A448-8A186D6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C4D"/>
                </a:solidFill>
              </a:defRPr>
            </a:pPr>
            <a:r>
              <a:rPr sz="2400" b="1">
                <a:solidFill>
                  <a:srgbClr val="008C4D"/>
                </a:solidFill>
              </a:rPr>
              <a:t>Веб-портал</a:t>
            </a:r>
          </a:p>
        </p:txBody>
      </p:sp>
      <p:sp>
        <p:nvSpPr>
          <p:cNvPr id="7" name="Layer body 0">
            <a:extLst xmlns:a="http://schemas.openxmlformats.org/drawingml/2006/main">
              <a:ext uri="{FF2B5EF4-FFF2-40B4-BE49-F238E27FC236}">
                <a16:creationId xmlns:a16="http://schemas.microsoft.com/office/drawing/2014/main" id="{3DB3FD1F-FCAB-48E2-AFCC-C073409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React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Адаптивные экраны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Вход и действия</a:t>
            </a:r>
          </a:p>
        </p:txBody>
      </p:sp>
      <p:sp>
        <p:nvSpPr>
          <p:cNvPr id="8" name="Layer 1">
            <a:extLst xmlns:a="http://schemas.openxmlformats.org/drawingml/2006/main">
              <a:ext uri="{FF2B5EF4-FFF2-40B4-BE49-F238E27FC236}">
                <a16:creationId xmlns:a16="http://schemas.microsoft.com/office/drawing/2014/main" id="{8AF4AFD6-2E18-40C2-ADE1-4A3CC263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43125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9"/>
          </a:solidFill>
          <a:ln xmlns:a="http://schemas.openxmlformats.org/drawingml/2006/main" w="0">
            <a:noFill/>
          </a:ln>
        </p:spPr>
      </p:sp>
      <p:sp>
        <p:nvSpPr>
          <p:cNvPr id="9" name="Layer title 1">
            <a:extLst xmlns:a="http://schemas.openxmlformats.org/drawingml/2006/main">
              <a:ext uri="{FF2B5EF4-FFF2-40B4-BE49-F238E27FC236}">
                <a16:creationId xmlns:a16="http://schemas.microsoft.com/office/drawing/2014/main" id="{C915EA71-F1A1-4290-8749-87A4BB9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C4D"/>
                </a:solidFill>
              </a:defRPr>
            </a:pPr>
            <a:r>
              <a:rPr sz="2400" b="1">
                <a:solidFill>
                  <a:srgbClr val="008C4D"/>
                </a:solidFill>
              </a:rPr>
              <a:t>FastAPI</a:t>
            </a:r>
          </a:p>
        </p:txBody>
      </p:sp>
      <p:sp>
        <p:nvSpPr>
          <p:cNvPr id="10" name="Layer body 1">
            <a:extLst xmlns:a="http://schemas.openxmlformats.org/drawingml/2006/main">
              <a:ext uri="{FF2B5EF4-FFF2-40B4-BE49-F238E27FC236}">
                <a16:creationId xmlns:a16="http://schemas.microsoft.com/office/drawing/2014/main" id="{9E234EAA-6C5B-4CE5-9827-EF39F6B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Проверка роли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Права на запись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Единый API</a:t>
            </a:r>
          </a:p>
        </p:txBody>
      </p:sp>
      <p:sp>
        <p:nvSpPr>
          <p:cNvPr id="11" name="Layer 2">
            <a:extLst xmlns:a="http://schemas.openxmlformats.org/drawingml/2006/main">
              <a:ext uri="{FF2B5EF4-FFF2-40B4-BE49-F238E27FC236}">
                <a16:creationId xmlns:a16="http://schemas.microsoft.com/office/drawing/2014/main" id="{AC90C317-1944-44B6-BFBC-D9A7BE6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Layer title 2">
            <a:extLst xmlns:a="http://schemas.openxmlformats.org/drawingml/2006/main">
              <a:ext uri="{FF2B5EF4-FFF2-40B4-BE49-F238E27FC236}">
                <a16:creationId xmlns:a16="http://schemas.microsoft.com/office/drawing/2014/main" id="{ECDABA09-DF5B-47FB-90AA-4639B647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9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C4D"/>
                </a:solidFill>
              </a:defRPr>
            </a:pPr>
            <a:r>
              <a:rPr sz="2400" b="1">
                <a:solidFill>
                  <a:srgbClr val="008C4D"/>
                </a:solidFill>
              </a:rPr>
              <a:t>Supabase</a:t>
            </a:r>
          </a:p>
        </p:txBody>
      </p:sp>
      <p:sp>
        <p:nvSpPr>
          <p:cNvPr id="13" name="Layer body 2">
            <a:extLst xmlns:a="http://schemas.openxmlformats.org/drawingml/2006/main">
              <a:ext uri="{FF2B5EF4-FFF2-40B4-BE49-F238E27FC236}">
                <a16:creationId xmlns:a16="http://schemas.microsoft.com/office/drawing/2014/main" id="{CD54EF61-DF6E-44DE-9ACC-FA4D7F7E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Auth и PostgreSQL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История и уведомления</a:t>
            </a:r>
          </a:p>
          <a:p xmlns:a="http://schemas.openxmlformats.org/drawingml/2006/main">
            <a:pPr>
              <a:defRPr sz="1875" b="0">
                <a:solidFill>
                  <a:srgbClr val="102A22"/>
                </a:solidFill>
              </a:defRPr>
            </a:pPr>
            <a:r>
              <a:rPr sz="1875" b="0">
                <a:solidFill>
                  <a:srgbClr val="102A22"/>
                </a:solidFill>
              </a:rPr>
              <a:t>Транзакции</a:t>
            </a:r>
          </a:p>
        </p:txBody>
      </p:sp>
      <p:sp>
        <p:nvSpPr>
          <p:cNvPr id="14" name="Connection 1">
            <a:extLst xmlns:a="http://schemas.openxmlformats.org/drawingml/2006/main">
              <a:ext uri="{FF2B5EF4-FFF2-40B4-BE49-F238E27FC236}">
                <a16:creationId xmlns:a16="http://schemas.microsoft.com/office/drawing/2014/main" id="{B2B114D2-11C3-4861-9C4E-680F8AC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766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4D"/>
          </a:solidFill>
          <a:ln xmlns:a="http://schemas.openxmlformats.org/drawingml/2006/main" w="0">
            <a:noFill/>
          </a:ln>
        </p:spPr>
      </p:sp>
      <p:sp>
        <p:nvSpPr>
          <p:cNvPr id="15" name="Connection 2">
            <a:extLst xmlns:a="http://schemas.openxmlformats.org/drawingml/2006/main">
              <a:ext uri="{FF2B5EF4-FFF2-40B4-BE49-F238E27FC236}">
                <a16:creationId xmlns:a16="http://schemas.microsoft.com/office/drawing/2014/main" id="{4ADFB2DE-7F83-4AB7-84F7-077E50E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4D"/>
          </a:solidFill>
          <a:ln xmlns:a="http://schemas.openxmlformats.org/drawingml/2006/main" w="0">
            <a:noFill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B62596A-4B30-4B57-9F0C-2D2365CA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3685F"/>
                </a:solidFill>
              </a:defRPr>
            </a:pPr>
            <a:r>
              <a:rPr sz="2250" b="1">
                <a:solidFill>
                  <a:srgbClr val="53685F"/>
                </a:solidFill>
              </a:rPr>
              <a:t>Следующий этап: 1С:ЗУП и Documentolog</a:t>
            </a:r>
          </a:p>
        </p:txBody>
      </p:sp>
      <p:sp>
        <p:nvSpPr>
          <p:cNvPr id="17" name="Caption">
            <a:extLst xmlns:a="http://schemas.openxmlformats.org/drawingml/2006/main">
              <a:ext uri="{FF2B5EF4-FFF2-40B4-BE49-F238E27FC236}">
                <a16:creationId xmlns:a16="http://schemas.microsoft.com/office/drawing/2014/main" id="{4D77CF2D-1459-409C-8A75-34BCBB8F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Локальный веб-портал требует интернет для Supabase. Служебный ключ остаётся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1778968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291F7A7-C332-4195-9749-987DEC0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E02970-134B-46D5-9E66-7EADDD9A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Jana показывает основание ответа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3197D39-4E0C-4B5A-AAC4-6A101B8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6934-0BDC-4907-BAA6-69CE83CA8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32e9f41ae4b48"/>
          <a:stretch xmlns:a="http://schemas.openxmlformats.org/drawingml/2006/main"/>
        </p:blipFill>
        <p:spPr>
          <a:xfrm xmlns:a="http://schemas.openxmlformats.org/drawingml/2006/main">
            <a:off x="609600" y="1812727"/>
            <a:ext cx="7524750" cy="4232672"/>
          </a:xfrm>
          <a:prstGeom xmlns:a="http://schemas.openxmlformats.org/drawingml/2006/main" prst="rect">
            <a:avLst/>
          </a:prstGeom>
        </p:spPr>
      </p:pic>
      <p:sp>
        <p:nvSpPr>
          <p:cNvPr id="6" name="Index 0">
            <a:extLst xmlns:a="http://schemas.openxmlformats.org/drawingml/2006/main">
              <a:ext uri="{FF2B5EF4-FFF2-40B4-BE49-F238E27FC236}">
                <a16:creationId xmlns:a16="http://schemas.microsoft.com/office/drawing/2014/main" id="{C4074A1C-8612-4C2B-91F4-94DB313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01</a:t>
            </a:r>
          </a:p>
        </p:txBody>
      </p:sp>
      <p:sp>
        <p:nvSpPr>
          <p:cNvPr id="7" name="Point 0">
            <a:extLst xmlns:a="http://schemas.openxmlformats.org/drawingml/2006/main">
              <a:ext uri="{FF2B5EF4-FFF2-40B4-BE49-F238E27FC236}">
                <a16:creationId xmlns:a16="http://schemas.microsoft.com/office/drawing/2014/main" id="{110DF28F-EDE2-4397-9514-250429C2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Версия и дата обновления</a:t>
            </a:r>
          </a:p>
        </p:txBody>
      </p:sp>
      <p:sp>
        <p:nvSpPr>
          <p:cNvPr id="8" name="Index 1">
            <a:extLst xmlns:a="http://schemas.openxmlformats.org/drawingml/2006/main">
              <a:ext uri="{FF2B5EF4-FFF2-40B4-BE49-F238E27FC236}">
                <a16:creationId xmlns:a16="http://schemas.microsoft.com/office/drawing/2014/main" id="{2C16B354-2476-4F00-A412-4E1BC60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02</a:t>
            </a:r>
          </a:p>
        </p:txBody>
      </p:sp>
      <p:sp>
        <p:nvSpPr>
          <p:cNvPr id="9" name="Point 1">
            <a:extLst xmlns:a="http://schemas.openxmlformats.org/drawingml/2006/main">
              <a:ext uri="{FF2B5EF4-FFF2-40B4-BE49-F238E27FC236}">
                <a16:creationId xmlns:a16="http://schemas.microsoft.com/office/drawing/2014/main" id="{C77FA85B-A893-4011-9E29-911DED97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48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Статус проверки материала</a:t>
            </a:r>
          </a:p>
        </p:txBody>
      </p:sp>
      <p:sp>
        <p:nvSpPr>
          <p:cNvPr id="10" name="Index 2">
            <a:extLst xmlns:a="http://schemas.openxmlformats.org/drawingml/2006/main">
              <a:ext uri="{FF2B5EF4-FFF2-40B4-BE49-F238E27FC236}">
                <a16:creationId xmlns:a16="http://schemas.microsoft.com/office/drawing/2014/main" id="{D2DCE8B7-8F98-4629-8B5C-79E067D5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03</a:t>
            </a:r>
          </a:p>
        </p:txBody>
      </p:sp>
      <p:sp>
        <p:nvSpPr>
          <p:cNvPr id="11" name="Point 2">
            <a:extLst xmlns:a="http://schemas.openxmlformats.org/drawingml/2006/main">
              <a:ext uri="{FF2B5EF4-FFF2-40B4-BE49-F238E27FC236}">
                <a16:creationId xmlns:a16="http://schemas.microsoft.com/office/drawing/2014/main" id="{7E41CF83-1D6A-4F91-AE68-9DCA9A3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30 / 30 вопросов в наборе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E09DE094-7292-4D2D-8746-09F313F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16 ответов и 14 отказов. При недоступности модели используется точная цитата. Не оценка общей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180111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2C06E44-31F7-4753-A05A-CE49ECE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1850D2-FF1C-42EB-9491-1B1BD27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Обучение с проверкой знаний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5179C97-09F3-42C1-A1B9-B739B288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387F4-49E1-4D04-B48B-BEC433341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2efef9fc14db5"/>
          <a:stretch xmlns:a="http://schemas.openxmlformats.org/drawingml/2006/main"/>
        </p:blipFill>
        <p:spPr>
          <a:xfrm xmlns:a="http://schemas.openxmlformats.org/drawingml/2006/main">
            <a:off x="609600" y="1812727"/>
            <a:ext cx="7524750" cy="4232672"/>
          </a:xfrm>
          <a:prstGeom xmlns:a="http://schemas.openxmlformats.org/drawingml/2006/main" prst="rect">
            <a:avLst/>
          </a:prstGeom>
        </p:spPr>
      </p:pic>
      <p:sp>
        <p:nvSpPr>
          <p:cNvPr id="6" name="Index 0">
            <a:extLst xmlns:a="http://schemas.openxmlformats.org/drawingml/2006/main">
              <a:ext uri="{FF2B5EF4-FFF2-40B4-BE49-F238E27FC236}">
                <a16:creationId xmlns:a16="http://schemas.microsoft.com/office/drawing/2014/main" id="{2CBE60FF-8B9E-4C4B-B24D-05F9104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01</a:t>
            </a:r>
          </a:p>
        </p:txBody>
      </p:sp>
      <p:sp>
        <p:nvSpPr>
          <p:cNvPr id="7" name="Point 0">
            <a:extLst xmlns:a="http://schemas.openxmlformats.org/drawingml/2006/main">
              <a:ext uri="{FF2B5EF4-FFF2-40B4-BE49-F238E27FC236}">
                <a16:creationId xmlns:a16="http://schemas.microsoft.com/office/drawing/2014/main" id="{BDCAE457-32A6-46D4-8377-DAC4D003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Назначенный материал</a:t>
            </a:r>
          </a:p>
        </p:txBody>
      </p:sp>
      <p:sp>
        <p:nvSpPr>
          <p:cNvPr id="8" name="Index 1">
            <a:extLst xmlns:a="http://schemas.openxmlformats.org/drawingml/2006/main">
              <a:ext uri="{FF2B5EF4-FFF2-40B4-BE49-F238E27FC236}">
                <a16:creationId xmlns:a16="http://schemas.microsoft.com/office/drawing/2014/main" id="{99BA8A65-A0D1-40B0-B817-C2F781E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02</a:t>
            </a:r>
          </a:p>
        </p:txBody>
      </p:sp>
      <p:sp>
        <p:nvSpPr>
          <p:cNvPr id="9" name="Point 1">
            <a:extLst xmlns:a="http://schemas.openxmlformats.org/drawingml/2006/main">
              <a:ext uri="{FF2B5EF4-FFF2-40B4-BE49-F238E27FC236}">
                <a16:creationId xmlns:a16="http://schemas.microsoft.com/office/drawing/2014/main" id="{B5759011-2593-421E-92D0-2A73177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48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Тест и повторная попытка</a:t>
            </a:r>
          </a:p>
        </p:txBody>
      </p:sp>
      <p:sp>
        <p:nvSpPr>
          <p:cNvPr id="10" name="Index 2">
            <a:extLst xmlns:a="http://schemas.openxmlformats.org/drawingml/2006/main">
              <a:ext uri="{FF2B5EF4-FFF2-40B4-BE49-F238E27FC236}">
                <a16:creationId xmlns:a16="http://schemas.microsoft.com/office/drawing/2014/main" id="{11AFEA52-2FC4-4D3F-AC49-4771DB09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4D"/>
                </a:solidFill>
              </a:defRPr>
            </a:pPr>
            <a:r>
              <a:rPr sz="1350" b="1">
                <a:solidFill>
                  <a:srgbClr val="008C4D"/>
                </a:solidFill>
              </a:rPr>
              <a:t>03</a:t>
            </a:r>
          </a:p>
        </p:txBody>
      </p:sp>
      <p:sp>
        <p:nvSpPr>
          <p:cNvPr id="11" name="Point 2">
            <a:extLst xmlns:a="http://schemas.openxmlformats.org/drawingml/2006/main">
              <a:ext uri="{FF2B5EF4-FFF2-40B4-BE49-F238E27FC236}">
                <a16:creationId xmlns:a16="http://schemas.microsoft.com/office/drawing/2014/main" id="{5A62C17C-C18D-42CE-B3ED-C4E56F00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Прогресс команды у руководителя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722D930-3328-4BE9-909C-BCBD86BD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Курсы демонстрационные. Оценка ответов и история попыток хранятся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977310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3F572A4-B6B6-43D3-B6EC-9E7EB79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BEC8F-A364-43DE-AD56-ED0CA13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Проверены сценарии и установка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A6CBDAB-7044-45CC-89FA-01D2C8D1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07</a:t>
            </a:r>
          </a:p>
        </p:txBody>
      </p:sp>
      <p:sp>
        <p:nvSpPr>
          <p:cNvPr id="5" name="Metric 0">
            <a:extLst xmlns:a="http://schemas.openxmlformats.org/drawingml/2006/main">
              <a:ext uri="{FF2B5EF4-FFF2-40B4-BE49-F238E27FC236}">
                <a16:creationId xmlns:a16="http://schemas.microsoft.com/office/drawing/2014/main" id="{4385C117-2B1B-4463-9547-790E7163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8C4D"/>
                </a:solidFill>
              </a:defRPr>
            </a:pPr>
            <a:r>
              <a:rPr sz="4950" b="1">
                <a:solidFill>
                  <a:srgbClr val="008C4D"/>
                </a:solidFill>
              </a:rPr>
              <a:t>332</a:t>
            </a:r>
          </a:p>
        </p:txBody>
      </p:sp>
      <p:sp>
        <p:nvSpPr>
          <p:cNvPr id="6" name="Metric label 0">
            <a:extLst xmlns:a="http://schemas.openxmlformats.org/drawingml/2006/main">
              <a:ext uri="{FF2B5EF4-FFF2-40B4-BE49-F238E27FC236}">
                <a16:creationId xmlns:a16="http://schemas.microsoft.com/office/drawing/2014/main" id="{9269D482-755B-459B-B512-6250260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серверных теста</a:t>
            </a:r>
          </a:p>
        </p:txBody>
      </p:sp>
      <p:sp>
        <p:nvSpPr>
          <p:cNvPr id="7" name="Metric 1">
            <a:extLst xmlns:a="http://schemas.openxmlformats.org/drawingml/2006/main">
              <a:ext uri="{FF2B5EF4-FFF2-40B4-BE49-F238E27FC236}">
                <a16:creationId xmlns:a16="http://schemas.microsoft.com/office/drawing/2014/main" id="{546BFACD-2AE0-4019-8303-5CB23DE1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8C4D"/>
                </a:solidFill>
              </a:defRPr>
            </a:pPr>
            <a:r>
              <a:rPr sz="4950" b="1">
                <a:solidFill>
                  <a:srgbClr val="008C4D"/>
                </a:solidFill>
              </a:rPr>
              <a:t>30 / 30</a:t>
            </a:r>
          </a:p>
        </p:txBody>
      </p:sp>
      <p:sp>
        <p:nvSpPr>
          <p:cNvPr id="8" name="Metric label 1">
            <a:extLst xmlns:a="http://schemas.openxmlformats.org/drawingml/2006/main">
              <a:ext uri="{FF2B5EF4-FFF2-40B4-BE49-F238E27FC236}">
                <a16:creationId xmlns:a16="http://schemas.microsoft.com/office/drawing/2014/main" id="{EFB24A1A-B0A0-4D7D-8E2C-D687D5B3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вопросов Jana в наборе</a:t>
            </a:r>
          </a:p>
        </p:txBody>
      </p:sp>
      <p:sp>
        <p:nvSpPr>
          <p:cNvPr id="9" name="Metric 2">
            <a:extLst xmlns:a="http://schemas.openxmlformats.org/drawingml/2006/main">
              <a:ext uri="{FF2B5EF4-FFF2-40B4-BE49-F238E27FC236}">
                <a16:creationId xmlns:a16="http://schemas.microsoft.com/office/drawing/2014/main" id="{8257BFF4-55D8-4A21-9642-8819CC9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8C4D"/>
                </a:solidFill>
              </a:defRPr>
            </a:pPr>
            <a:r>
              <a:rPr sz="4950" b="1">
                <a:solidFill>
                  <a:srgbClr val="008C4D"/>
                </a:solidFill>
              </a:rPr>
              <a:t>3 роли</a:t>
            </a:r>
          </a:p>
        </p:txBody>
      </p:sp>
      <p:sp>
        <p:nvSpPr>
          <p:cNvPr id="10" name="Metric label 2">
            <a:extLst xmlns:a="http://schemas.openxmlformats.org/drawingml/2006/main">
              <a:ext uri="{FF2B5EF4-FFF2-40B4-BE49-F238E27FC236}">
                <a16:creationId xmlns:a16="http://schemas.microsoft.com/office/drawing/2014/main" id="{6311B18E-017F-4A76-BCEA-AA2FFDCC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22"/>
                </a:solidFill>
              </a:defRPr>
            </a:pPr>
            <a:r>
              <a:rPr sz="2025" b="1">
                <a:solidFill>
                  <a:srgbClr val="102A22"/>
                </a:solidFill>
              </a:rPr>
              <a:t>на настоящем бэке</a:t>
            </a:r>
          </a:p>
        </p:txBody>
      </p:sp>
      <p:sp>
        <p:nvSpPr>
          <p:cNvPr id="11" name="Verification details">
            <a:extLst xmlns:a="http://schemas.openxmlformats.org/drawingml/2006/main">
              <a:ext uri="{FF2B5EF4-FFF2-40B4-BE49-F238E27FC236}">
                <a16:creationId xmlns:a16="http://schemas.microsoft.com/office/drawing/2014/main" id="{DB523867-F7E4-43E5-9792-C5A7C7CF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85F"/>
                </a:solidFill>
              </a:defRPr>
            </a:pPr>
            <a:r>
              <a:rPr sz="2100" b="0">
                <a:solidFill>
                  <a:srgbClr val="53685F"/>
                </a:solidFill>
              </a:rPr>
              <a:t>Регистрация и восстановление через письмо</a:t>
            </a:r>
          </a:p>
          <a:p xmlns:a="http://schemas.openxmlformats.org/drawingml/2006/main">
            <a:pPr>
              <a:defRPr sz="2100" b="0">
                <a:solidFill>
                  <a:srgbClr val="53685F"/>
                </a:solidFill>
              </a:defRPr>
            </a:pPr>
            <a:r>
              <a:rPr sz="2100" b="0">
                <a:solidFill>
                  <a:srgbClr val="53685F"/>
                </a:solidFill>
              </a:rPr>
              <a:t>Чистая установка, сборка и запуск</a:t>
            </a:r>
          </a:p>
          <a:p xmlns:a="http://schemas.openxmlformats.org/drawingml/2006/main">
            <a:pPr>
              <a:defRPr sz="2100" b="0">
                <a:solidFill>
                  <a:srgbClr val="53685F"/>
                </a:solidFill>
              </a:defRPr>
            </a:pPr>
            <a:r>
              <a:rPr sz="2100" b="0">
                <a:solidFill>
                  <a:srgbClr val="53685F"/>
                </a:solidFill>
              </a:rPr>
              <a:t>Повтор отправки, согласование и уведомление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6250115F-5325-4411-BC72-DA2994C6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Проверки от 17 октября 2026 года. SQL-тесты выполнялись в отдельной локальной базе.</a:t>
            </a:r>
          </a:p>
        </p:txBody>
      </p:sp>
    </p:spTree>
    <p:extLst>
      <p:ext uri="{BB962C8B-B14F-4D97-AF65-F5344CB8AC3E}">
        <p14:creationId xmlns:p14="http://schemas.microsoft.com/office/powerpoint/2010/main" val="707569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46A1B9F-E94B-4CE5-B80C-91414B8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POSTTECH  /  TERRICON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EF861-A1B0-4A73-9556-2D664DB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A22"/>
                </a:solidFill>
              </a:defRPr>
            </a:pPr>
            <a:r>
              <a:rPr sz="3150" b="1">
                <a:solidFill>
                  <a:srgbClr val="102A22"/>
                </a:solidFill>
              </a:rPr>
              <a:t>Прозрачный путь для каждого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4CBFC8-C3EA-4F89-BD00-C3E5FA3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08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5D4F4940-C111-422E-BBD4-C607A0C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22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22"/>
                </a:solidFill>
              </a:defRPr>
            </a:pPr>
            <a:r>
              <a:rPr sz="2625" b="1">
                <a:solidFill>
                  <a:srgbClr val="102A22"/>
                </a:solidFill>
              </a:rPr>
              <a:t>Сотрудник видит статус.</a:t>
            </a:r>
          </a:p>
          <a:p xmlns:a="http://schemas.openxmlformats.org/drawingml/2006/main">
            <a:pPr>
              <a:defRPr sz="2625" b="1">
                <a:solidFill>
                  <a:srgbClr val="102A22"/>
                </a:solidFill>
              </a:defRPr>
            </a:pPr>
            <a:r>
              <a:rPr sz="2625" b="1">
                <a:solidFill>
                  <a:srgbClr val="102A22"/>
                </a:solidFill>
              </a:rPr>
              <a:t>Руководитель видит ответственность.</a:t>
            </a:r>
          </a:p>
          <a:p xmlns:a="http://schemas.openxmlformats.org/drawingml/2006/main">
            <a:pPr>
              <a:defRPr sz="2625" b="1">
                <a:solidFill>
                  <a:srgbClr val="102A22"/>
                </a:solidFill>
              </a:defRPr>
            </a:pPr>
            <a:r>
              <a:rPr sz="2625" b="1">
                <a:solidFill>
                  <a:srgbClr val="102A22"/>
                </a:solidFill>
              </a:rPr>
              <a:t>HR видит историю.</a:t>
            </a:r>
          </a:p>
        </p:txBody>
      </p:sp>
      <p:sp>
        <p:nvSpPr>
          <p:cNvPr id="6" name="Next label">
            <a:extLst xmlns:a="http://schemas.openxmlformats.org/drawingml/2006/main">
              <a:ext uri="{FF2B5EF4-FFF2-40B4-BE49-F238E27FC236}">
                <a16:creationId xmlns:a16="http://schemas.microsoft.com/office/drawing/2014/main" id="{961D3D5B-13DD-4D77-BEB3-4B9BAF19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C4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8C4D"/>
                </a:solidFill>
              </a:defRPr>
            </a:pPr>
            <a:r>
              <a:rPr sz="1200" b="1">
                <a:solidFill>
                  <a:srgbClr val="008C4D"/>
                </a:solidFill>
              </a:rPr>
              <a:t>ДАЛЬШЕ ПО ПЛАНУ</a:t>
            </a:r>
          </a:p>
        </p:txBody>
      </p:sp>
      <p:sp>
        <p:nvSpPr>
          <p:cNvPr id="7" name="Next items">
            <a:extLst xmlns:a="http://schemas.openxmlformats.org/drawingml/2006/main">
              <a:ext uri="{FF2B5EF4-FFF2-40B4-BE49-F238E27FC236}">
                <a16:creationId xmlns:a16="http://schemas.microsoft.com/office/drawing/2014/main" id="{F5BE4CC8-8A1F-48D3-83D5-E93DF5A1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3685F"/>
                </a:solidFill>
              </a:defRPr>
            </a:pPr>
            <a:r>
              <a:rPr sz="2250" b="0">
                <a:solidFill>
                  <a:srgbClr val="53685F"/>
                </a:solidFill>
              </a:rPr>
              <a:t>Замещение и управление курсами</a:t>
            </a:r>
          </a:p>
          <a:p xmlns:a="http://schemas.openxmlformats.org/drawingml/2006/main">
            <a:pPr>
              <a:defRPr sz="2250" b="0">
                <a:solidFill>
                  <a:srgbClr val="53685F"/>
                </a:solidFill>
              </a:defRPr>
            </a:pPr>
            <a:r>
              <a:rPr sz="2250" b="0">
                <a:solidFill>
                  <a:srgbClr val="53685F"/>
                </a:solidFill>
              </a:rPr>
              <a:t>RU / KZ и передача вопроса в HR</a:t>
            </a:r>
          </a:p>
          <a:p xmlns:a="http://schemas.openxmlformats.org/drawingml/2006/main">
            <a:pPr>
              <a:defRPr sz="2250" b="0">
                <a:solidFill>
                  <a:srgbClr val="53685F"/>
                </a:solidFill>
              </a:defRPr>
            </a:pPr>
            <a:r>
              <a:rPr sz="2250" b="0">
                <a:solidFill>
                  <a:srgbClr val="53685F"/>
                </a:solidFill>
              </a:rPr>
              <a:t>Затем 1С:ЗУП и Documentolog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2C42890A-1B08-46DF-9A2A-F8A4CA34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8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85F"/>
                </a:solidFill>
              </a:defRPr>
            </a:pPr>
            <a:r>
              <a:rPr sz="1200" b="0">
                <a:solidFill>
                  <a:srgbClr val="53685F"/>
                </a:solidFill>
              </a:rPr>
              <a:t>Сегодня: рабочий прототип. Дальше: правила компании, пилот и реальные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1522151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2026-10-16T20:02:42.8140000Z</dcterms:created>
  <dcterms:modified xsi:type="dcterms:W3CDTF">2026-10-16T20:02:42.8150000Z</dcterms:modified>
</coreProperties>
</file>